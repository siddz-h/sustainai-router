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303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F06A"/>
                </a:solidFill>
                <a:latin typeface="Arial"/>
              </a:rPr>
              <a:t>1M1B AI FOR SUSTAINABILITY · FINAL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SustainAI 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9F06A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6675120" cy="1325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Arial"/>
              </a:rPr>
              <a:t>Right capability.
Lower resource intensity.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401568"/>
            <a:ext cx="58521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EE5DC"/>
                </a:solidFill>
                <a:latin typeface="Arial"/>
              </a:rPr>
              <a:t>Explainable, environmentally aware AI task and model-tier recommendation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1783080"/>
            <a:ext cx="3474720" cy="3566160"/>
          </a:xfrm>
          <a:prstGeom prst="roundRect">
            <a:avLst/>
          </a:prstGeom>
          <a:solidFill>
            <a:srgbClr val="1C3E37"/>
          </a:solidFill>
          <a:ln w="10160">
            <a:solidFill>
              <a:srgbClr val="3E6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2103120"/>
            <a:ext cx="2834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F06A"/>
                </a:solidFill>
                <a:latin typeface="Arial"/>
              </a:rPr>
              <a:t>THE DECISION PRINCIPLE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542032"/>
            <a:ext cx="278892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rial"/>
              </a:rPr>
              <a:t>Use the least resource-intensive model that is reasonably capable of completing the task.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977639"/>
            <a:ext cx="1234440" cy="283464"/>
          </a:xfrm>
          <a:prstGeom prst="roundRect">
            <a:avLst/>
          </a:prstGeom>
          <a:solidFill>
            <a:srgbClr val="0F8B6D"/>
          </a:solidFill>
          <a:ln w="10160"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82912" y="4005072"/>
            <a:ext cx="14173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LIGHTWEIGHT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82912" y="4169663"/>
            <a:ext cx="1508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ED3CA"/>
                </a:solidFill>
                <a:latin typeface="Arial"/>
              </a:rPr>
              <a:t>simple tasks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4370832"/>
            <a:ext cx="1234440" cy="283464"/>
          </a:xfrm>
          <a:prstGeom prst="roundRect">
            <a:avLst/>
          </a:prstGeom>
          <a:solidFill>
            <a:srgbClr val="AC8E28"/>
          </a:solidFill>
          <a:ln w="10160">
            <a:solidFill>
              <a:srgbClr val="AC8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82912" y="4398264"/>
            <a:ext cx="14173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STANDARD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82912" y="4562856"/>
            <a:ext cx="1508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ED3CA"/>
                </a:solidFill>
                <a:latin typeface="Arial"/>
              </a:rPr>
              <a:t>mixed tasks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4764024"/>
            <a:ext cx="1234440" cy="283464"/>
          </a:xfrm>
          <a:prstGeom prst="roundRect">
            <a:avLst/>
          </a:prstGeom>
          <a:solidFill>
            <a:srgbClr val="B8503C"/>
          </a:solidFill>
          <a:ln w="10160">
            <a:solidFill>
              <a:srgbClr val="B85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82912" y="4791456"/>
            <a:ext cx="14173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ADVANCED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82912" y="4956048"/>
            <a:ext cx="1508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ED3CA"/>
                </a:solidFill>
                <a:latin typeface="Arial"/>
              </a:rPr>
              <a:t>complex tasks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70448"/>
            <a:ext cx="5943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AC3B9"/>
                </a:solidFill>
                <a:latin typeface="Arial"/>
              </a:rPr>
              <a:t>Research-backed · scope-controlled · no-code prototype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199632"/>
            <a:ext cx="5943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6B1A6"/>
                </a:solidFill>
                <a:latin typeface="Arial"/>
              </a:rPr>
              <a:t>IBM SkillsBuild · AICTE · 21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5486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8B6D"/>
                </a:solidFill>
                <a:latin typeface="Arial"/>
              </a:rPr>
              <a:t>01 ·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0232B"/>
                </a:solidFill>
                <a:latin typeface="Arial"/>
              </a:rPr>
              <a:t>The problem: one default model does not fit every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8B6D"/>
                </a:solidFill>
                <a:latin typeface="Arial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4800600" cy="397763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93392"/>
            <a:ext cx="4297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B7076"/>
                </a:solidFill>
                <a:latin typeface="Arial"/>
              </a:rPr>
              <a:t>Today’s default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16052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0232B"/>
                </a:solidFill>
                <a:latin typeface="Arial"/>
              </a:rPr>
              <a:t>Many AI applications
use one model for everything.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950208"/>
            <a:ext cx="82296" cy="82296"/>
          </a:xfrm>
          <a:prstGeom prst="ellipse">
            <a:avLst/>
          </a:prstGeom>
          <a:solidFill>
            <a:srgbClr val="0F8B6D"/>
          </a:solidFill>
          <a:ln w="10160"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886200"/>
            <a:ext cx="390448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0232B"/>
                </a:solidFill>
                <a:latin typeface="Arial"/>
              </a:rPr>
              <a:t>Simple requests may be over-provisioned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4343400"/>
            <a:ext cx="82296" cy="82296"/>
          </a:xfrm>
          <a:prstGeom prst="ellipse">
            <a:avLst/>
          </a:prstGeom>
          <a:solidFill>
            <a:srgbClr val="0F8B6D"/>
          </a:solidFill>
          <a:ln w="10160"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4279392"/>
            <a:ext cx="390448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0232B"/>
                </a:solidFill>
                <a:latin typeface="Arial"/>
              </a:rPr>
              <a:t>Complex requests may be under-provisioned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736592"/>
            <a:ext cx="82296" cy="82296"/>
          </a:xfrm>
          <a:prstGeom prst="ellipse">
            <a:avLst/>
          </a:prstGeom>
          <a:solidFill>
            <a:srgbClr val="0F8B6D"/>
          </a:solidFill>
          <a:ln w="10160"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4672584"/>
            <a:ext cx="390448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0232B"/>
                </a:solidFill>
                <a:latin typeface="Arial"/>
              </a:rPr>
              <a:t>Environmental/resource trade-offs stay invisible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0" y="1691640"/>
            <a:ext cx="5806440" cy="3977639"/>
          </a:xfrm>
          <a:prstGeom prst="roundRect">
            <a:avLst/>
          </a:prstGeom>
          <a:solidFill>
            <a:srgbClr val="10232B"/>
          </a:solidFill>
          <a:ln w="10160">
            <a:solidFill>
              <a:srgbClr val="10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993392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9F06A"/>
                </a:solidFill>
                <a:latin typeface="Arial"/>
              </a:rPr>
              <a:t>The design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514600"/>
            <a:ext cx="484632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Which capability is enough
for this task?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794760"/>
            <a:ext cx="47548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3E7DE"/>
                </a:solidFill>
                <a:latin typeface="Arial"/>
              </a:rPr>
              <a:t>Not the smallest model.
Not the strongest model by default.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754880"/>
            <a:ext cx="1417320" cy="411480"/>
          </a:xfrm>
          <a:prstGeom prst="roundRect">
            <a:avLst/>
          </a:prstGeom>
          <a:solidFill>
            <a:srgbClr val="0F8B6D"/>
          </a:solidFill>
          <a:ln w="10160"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4864608"/>
            <a:ext cx="14173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5257800"/>
            <a:ext cx="16459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5CFC3"/>
                </a:solidFill>
                <a:latin typeface="Arial"/>
              </a:rPr>
              <a:t>translation / extraction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90688" y="4754880"/>
            <a:ext cx="1417320" cy="411480"/>
          </a:xfrm>
          <a:prstGeom prst="roundRect">
            <a:avLst/>
          </a:prstGeom>
          <a:solidFill>
            <a:srgbClr val="AA8B23"/>
          </a:solidFill>
          <a:ln w="10160">
            <a:solidFill>
              <a:srgbClr val="AA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90688" y="4864608"/>
            <a:ext cx="14173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MEDIUM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0688" y="5257800"/>
            <a:ext cx="16459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5CFC3"/>
                </a:solidFill>
                <a:latin typeface="Arial"/>
              </a:rPr>
              <a:t>summarization / Q&amp;A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55480" y="4754880"/>
            <a:ext cx="1417320" cy="411480"/>
          </a:xfrm>
          <a:prstGeom prst="roundRect">
            <a:avLst/>
          </a:prstGeom>
          <a:solidFill>
            <a:srgbClr val="C15340"/>
          </a:solidFill>
          <a:ln w="10160">
            <a:solidFill>
              <a:srgbClr val="C15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5480" y="4864608"/>
            <a:ext cx="14173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5257800"/>
            <a:ext cx="16459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5CFC3"/>
                </a:solidFill>
                <a:latin typeface="Arial"/>
              </a:rPr>
              <a:t>reasoning / comparison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56248"/>
            <a:ext cx="104241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B7076"/>
                </a:solidFill>
                <a:latin typeface="Arial"/>
              </a:rPr>
              <a:t>Positioning: decision-support layer, not a new routing algorithm.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8B6D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5486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8B6D"/>
                </a:solidFill>
                <a:latin typeface="Arial"/>
              </a:rPr>
              <a:t>02 ·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0232B"/>
                </a:solidFill>
                <a:latin typeface="Arial"/>
              </a:rPr>
              <a:t>Why it matters: the evidence is real, but the numbers are contextual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8B6D"/>
                </a:solidFill>
                <a:latin typeface="Arial"/>
              </a:rP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120640" cy="4069080"/>
          </a:xfrm>
          <a:prstGeom prst="roundRect">
            <a:avLst/>
          </a:prstGeom>
          <a:solidFill>
            <a:srgbClr val="10232B"/>
          </a:solidFill>
          <a:ln w="10160">
            <a:solidFill>
              <a:srgbClr val="10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206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9F06A"/>
                </a:solidFill>
                <a:latin typeface="Arial"/>
              </a:rPr>
              <a:t>GLOBAL SYSTEM OUTLOOK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87168"/>
            <a:ext cx="29260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~415 TWh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18688"/>
            <a:ext cx="3931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3E7DE"/>
                </a:solidFill>
                <a:latin typeface="Arial"/>
              </a:rPr>
              <a:t>Data-centre electricity in 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977639"/>
            <a:ext cx="31089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D9F06A"/>
                </a:solidFill>
                <a:latin typeface="Arial"/>
              </a:rPr>
              <a:t>~945 TWh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681728"/>
            <a:ext cx="3931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3E7DE"/>
                </a:solidFill>
                <a:latin typeface="Arial"/>
              </a:rPr>
              <a:t>IEA base case for 2030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166360"/>
            <a:ext cx="4160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5BFB4"/>
                </a:solidFill>
                <a:latin typeface="Arial"/>
              </a:rPr>
              <a:t>All data centres · not AI inference alone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691640"/>
            <a:ext cx="5486400" cy="4069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011680"/>
            <a:ext cx="4572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8B6D"/>
                </a:solidFill>
                <a:latin typeface="Arial"/>
              </a:rPr>
              <a:t>BOUNDED PRODUCTION MEASUREMENT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87168"/>
            <a:ext cx="329184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0232B"/>
                </a:solidFill>
                <a:latin typeface="Arial"/>
              </a:rPr>
              <a:t>0.24 Wh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218688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0232B"/>
                </a:solidFill>
                <a:latin typeface="Arial"/>
              </a:rPr>
              <a:t>Median Gemini Apps text 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794760"/>
            <a:ext cx="461772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7076"/>
                </a:solidFill>
                <a:latin typeface="Arial"/>
              </a:rPr>
              <a:t>Google’s 2025 full-stack study also reported 0.03 gCO₂e and 0.26 mL water for that measured service.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4892040"/>
            <a:ext cx="4480560" cy="502920"/>
          </a:xfrm>
          <a:prstGeom prst="roundRect">
            <a:avLst/>
          </a:prstGeom>
          <a:solidFill>
            <a:srgbClr val="EDF7F1"/>
          </a:solidFill>
          <a:ln w="10160">
            <a:solidFill>
              <a:srgbClr val="ED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28816" y="5047488"/>
            <a:ext cx="42062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8B6D"/>
                </a:solidFill>
                <a:latin typeface="Arial"/>
              </a:rPr>
              <a:t>Specific provider · workload · boundary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5486400"/>
            <a:ext cx="47548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7076"/>
                </a:solidFill>
                <a:latin typeface="Arial"/>
              </a:rPr>
              <a:t>Not a universal “AI query” number.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56248"/>
            <a:ext cx="104241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B7076"/>
                </a:solidFill>
                <a:latin typeface="Arial"/>
              </a:rPr>
              <a:t>Sources: IEA Energy and AI (2025); IEA Key Questions on Energy and AI (2026); Google AI serving methodology (2025).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8B6D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5486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8B6D"/>
                </a:solidFill>
                <a:latin typeface="Arial"/>
              </a:rPr>
              <a:t>03 · EXISTING FIELD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0232B"/>
                </a:solidFill>
                <a:latin typeface="Arial"/>
              </a:rPr>
              <a:t>Routing already exists — the project must not claim otherwise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8B6D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7076"/>
                </a:solidFill>
                <a:latin typeface="Arial"/>
              </a:rPr>
              <a:t>Existing systems optimize different parts of the same trade-off space.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1031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8B6D"/>
                </a:solidFill>
                <a:latin typeface="Arial"/>
              </a:rPr>
              <a:t>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828800"/>
            <a:ext cx="16459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8B6D"/>
                </a:solidFill>
                <a:latin typeface="Arial"/>
              </a:rPr>
              <a:t>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1828800"/>
            <a:ext cx="18288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8B6D"/>
                </a:solidFill>
                <a:latin typeface="Arial"/>
              </a:rPr>
              <a:t>PRIMARY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1828800"/>
            <a:ext cx="39319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8B6D"/>
                </a:solidFill>
                <a:latin typeface="Arial"/>
              </a:rPr>
              <a:t>SELECTION SIGNAL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148840"/>
            <a:ext cx="1088136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95144"/>
            <a:ext cx="20116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32B"/>
                </a:solidFill>
                <a:latin typeface="Arial"/>
              </a:rPr>
              <a:t>RouteLLM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0672" y="2295144"/>
            <a:ext cx="1600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7076"/>
                </a:solidFill>
                <a:latin typeface="Arial"/>
              </a:rPr>
              <a:t>Research / open-source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9472" y="2295144"/>
            <a:ext cx="19202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232B"/>
                </a:solidFill>
                <a:latin typeface="Arial"/>
              </a:rPr>
              <a:t>quality +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2592" y="2295144"/>
            <a:ext cx="4160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7076"/>
                </a:solidFill>
                <a:latin typeface="Arial"/>
              </a:rPr>
              <a:t>learned strong/weak routing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807208"/>
            <a:ext cx="10881360" cy="530352"/>
          </a:xfrm>
          <a:prstGeom prst="rect">
            <a:avLst/>
          </a:prstGeom>
          <a:solidFill>
            <a:srgbClr val="EDF7F1"/>
          </a:solidFill>
          <a:ln w="10160">
            <a:solidFill>
              <a:srgbClr val="DB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953512"/>
            <a:ext cx="20116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32B"/>
                </a:solidFill>
                <a:latin typeface="Arial"/>
              </a:rPr>
              <a:t>OpenRouter / Not Diamond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0672" y="2953512"/>
            <a:ext cx="1600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7076"/>
                </a:solidFill>
                <a:latin typeface="Arial"/>
              </a:rPr>
              <a:t>Commercial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2953512"/>
            <a:ext cx="19202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232B"/>
                </a:solidFill>
                <a:latin typeface="Arial"/>
              </a:rPr>
              <a:t>task fit + 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22592" y="2953512"/>
            <a:ext cx="4160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7076"/>
                </a:solidFill>
                <a:latin typeface="Arial"/>
              </a:rPr>
              <a:t>task classifier / learned selection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465576"/>
            <a:ext cx="1088136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611880"/>
            <a:ext cx="20116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32B"/>
                </a:solidFill>
                <a:latin typeface="Arial"/>
              </a:rPr>
              <a:t>AWS / Microsoft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0672" y="3611880"/>
            <a:ext cx="1600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7076"/>
                </a:solidFill>
                <a:latin typeface="Arial"/>
              </a:rPr>
              <a:t>Managed cloud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19472" y="3611880"/>
            <a:ext cx="19202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232B"/>
                </a:solidFill>
                <a:latin typeface="Arial"/>
              </a:rPr>
              <a:t>quality + cost + latency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2592" y="3611880"/>
            <a:ext cx="4160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7076"/>
                </a:solidFill>
                <a:latin typeface="Arial"/>
              </a:rPr>
              <a:t>quality modes + model subsets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123944"/>
            <a:ext cx="10881360" cy="530352"/>
          </a:xfrm>
          <a:prstGeom prst="rect">
            <a:avLst/>
          </a:prstGeom>
          <a:solidFill>
            <a:srgbClr val="EDF7F1"/>
          </a:solidFill>
          <a:ln w="10160">
            <a:solidFill>
              <a:srgbClr val="DB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270248"/>
            <a:ext cx="20116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32B"/>
                </a:solidFill>
                <a:latin typeface="Arial"/>
              </a:rPr>
              <a:t>Vercel AI Gateway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90672" y="4270248"/>
            <a:ext cx="1600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7076"/>
                </a:solidFill>
                <a:latin typeface="Arial"/>
              </a:rPr>
              <a:t>Gateway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19472" y="4270248"/>
            <a:ext cx="19202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232B"/>
                </a:solidFill>
                <a:latin typeface="Arial"/>
              </a:rPr>
              <a:t>availability + cost + latency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2592" y="4270248"/>
            <a:ext cx="4160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7076"/>
                </a:solidFill>
                <a:latin typeface="Arial"/>
              </a:rPr>
              <a:t>provider/fallback routing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782312"/>
            <a:ext cx="1088136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928616"/>
            <a:ext cx="20116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32B"/>
                </a:solidFill>
                <a:latin typeface="Arial"/>
              </a:rPr>
              <a:t>ML.ENERGY / GSF / Google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90672" y="4928616"/>
            <a:ext cx="1600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7076"/>
                </a:solidFill>
                <a:latin typeface="Arial"/>
              </a:rPr>
              <a:t>Research + infrastructure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19472" y="4928616"/>
            <a:ext cx="19202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232B"/>
                </a:solidFill>
                <a:latin typeface="Arial"/>
              </a:rPr>
              <a:t>energy / carbon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22592" y="4928616"/>
            <a:ext cx="4160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7076"/>
                </a:solidFill>
                <a:latin typeface="Arial"/>
              </a:rPr>
              <a:t>measurement, forecasting, scheduling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669280"/>
            <a:ext cx="10881360" cy="530352"/>
          </a:xfrm>
          <a:prstGeom prst="roundRect">
            <a:avLst/>
          </a:prstGeom>
          <a:solidFill>
            <a:srgbClr val="10232B"/>
          </a:solidFill>
          <a:ln w="10160">
            <a:solidFill>
              <a:srgbClr val="10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824728"/>
            <a:ext cx="102412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Conclusion: routing is established. Our value is making resource-awareness and governance understandable at the application layer.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56248"/>
            <a:ext cx="104241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B7076"/>
                </a:solidFill>
                <a:latin typeface="Arial"/>
              </a:rPr>
              <a:t>Sources: RouteLLM, OpenRouter, AWS Bedrock, Microsoft Foundry, Vercel AI Gateway and ML.ENERGY documentation.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8B6D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5486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8B6D"/>
                </a:solidFill>
                <a:latin typeface="Arial"/>
              </a:rPr>
              <a:t>04 ·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0232B"/>
                </a:solidFill>
                <a:latin typeface="Arial"/>
              </a:rPr>
              <a:t>The defensible gap: transparent resource-aware decision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8B6D"/>
                </a:solidFill>
                <a:latin typeface="Arial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2926080" cy="2971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176272"/>
            <a:ext cx="23774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8B6D"/>
                </a:solidFill>
                <a:latin typeface="Arial"/>
              </a:rPr>
              <a:t>EXISTING CAPABILITY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697480"/>
            <a:ext cx="237744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0232B"/>
                </a:solidFill>
                <a:latin typeface="Arial"/>
              </a:rPr>
              <a:t>Quality, cost, latency, availability
and emerging energy/carbon research.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4343400"/>
            <a:ext cx="228600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8B6D"/>
                </a:solidFill>
                <a:latin typeface="Arial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874519"/>
            <a:ext cx="2926080" cy="2971800"/>
          </a:xfrm>
          <a:prstGeom prst="roundRect">
            <a:avLst/>
          </a:prstGeom>
          <a:solidFill>
            <a:srgbClr val="FFF7EA"/>
          </a:solidFill>
          <a:ln w="10160">
            <a:solidFill>
              <a:srgbClr val="DB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6552" y="2176272"/>
            <a:ext cx="23774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8B6D"/>
                </a:solidFill>
                <a:latin typeface="Arial"/>
              </a:rPr>
              <a:t>LIMITATION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2697480"/>
            <a:ext cx="237744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0232B"/>
                </a:solidFill>
                <a:latin typeface="Arial"/>
              </a:rPr>
              <a:t>Telemetry and environmental
metadata are fragmented; quality
risks can be hidden.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4343400"/>
            <a:ext cx="228600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8B6D"/>
                </a:solidFill>
                <a:latin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1874519"/>
            <a:ext cx="2926080" cy="2971800"/>
          </a:xfrm>
          <a:prstGeom prst="roundRect">
            <a:avLst/>
          </a:prstGeom>
          <a:solidFill>
            <a:srgbClr val="EDF7F1"/>
          </a:solidFill>
          <a:ln w="10160">
            <a:solidFill>
              <a:srgbClr val="DB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45552" y="2176272"/>
            <a:ext cx="23774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8B6D"/>
                </a:solidFill>
                <a:latin typeface="Arial"/>
              </a:rPr>
              <a:t>OUR CONTRIBUTION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45552" y="2697480"/>
            <a:ext cx="237744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0232B"/>
                </a:solidFill>
                <a:latin typeface="Arial"/>
              </a:rPr>
              <a:t>A no-code, explainable layer with
relative tiers, quality floor,
uncertainty and human override.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5552" y="4343400"/>
            <a:ext cx="228600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8B6D"/>
                </a:solidFill>
                <a:latin typeface="Arial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108960"/>
            <a:ext cx="4114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F8B6D"/>
                </a:solidFill>
                <a:latin typeface="Arial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3108960"/>
            <a:ext cx="4114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F8B6D"/>
                </a:solidFill>
                <a:latin typeface="Arial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303520"/>
            <a:ext cx="105156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0232B"/>
                </a:solidFill>
                <a:latin typeface="Arial"/>
              </a:rPr>
              <a:t>Not a new router. Not a footprint calculator. A visible policy layer for better decisions.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56248"/>
            <a:ext cx="104241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B7076"/>
                </a:solidFill>
                <a:latin typeface="Arial"/>
              </a:rPr>
              <a:t>Gap claim is deliberately narrow: product integration, transparency and governance—not algorithmic novelty.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8B6D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5486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8B6D"/>
                </a:solidFill>
                <a:latin typeface="Arial"/>
              </a:rPr>
              <a:t>05 · USERS &amp; STAKEHOLDERS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0232B"/>
                </a:solidFill>
                <a:latin typeface="Arial"/>
              </a:rPr>
              <a:t>Who is affected — and who benefits?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8B6D"/>
                </a:solidFill>
                <a:latin typeface="Arial"/>
              </a:rP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498348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7552" y="1993391"/>
            <a:ext cx="438912" cy="438912"/>
          </a:xfrm>
          <a:prstGeom prst="ellipse">
            <a:avLst/>
          </a:prstGeom>
          <a:solidFill>
            <a:srgbClr val="0F8B6D"/>
          </a:solidFill>
          <a:ln w="10160"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066543"/>
            <a:ext cx="4389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965960"/>
            <a:ext cx="3749039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0232B"/>
                </a:solidFill>
                <a:latin typeface="Arial"/>
              </a:rPr>
              <a:t>AI product / developer teams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359152"/>
            <a:ext cx="3749039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7076"/>
                </a:solidFill>
                <a:latin typeface="Arial"/>
              </a:rPr>
              <a:t>Need a configurable model pool and auditable policy.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2798063"/>
            <a:ext cx="3291840" cy="228600"/>
          </a:xfrm>
          <a:prstGeom prst="roundRect">
            <a:avLst/>
          </a:prstGeom>
          <a:solidFill>
            <a:srgbClr val="EDF7F1"/>
          </a:solidFill>
          <a:ln w="10160">
            <a:solidFill>
              <a:srgbClr val="ED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64208" y="2834639"/>
            <a:ext cx="310896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8B6D"/>
                </a:solidFill>
                <a:latin typeface="Arial"/>
              </a:rPr>
              <a:t>Recommendation + registry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498348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993391"/>
            <a:ext cx="438912" cy="438912"/>
          </a:xfrm>
          <a:prstGeom prst="ellipse">
            <a:avLst/>
          </a:prstGeom>
          <a:solidFill>
            <a:srgbClr val="0F8B6D"/>
          </a:solidFill>
          <a:ln w="10160"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066543"/>
            <a:ext cx="4389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1965960"/>
            <a:ext cx="3749039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0232B"/>
                </a:solidFill>
                <a:latin typeface="Arial"/>
              </a:rPr>
              <a:t>Sustainability / ESG teams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359152"/>
            <a:ext cx="3749039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7076"/>
                </a:solidFill>
                <a:latin typeface="Arial"/>
              </a:rPr>
              <a:t>Need boundaries, evidence and no greenwashing.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80" y="2798063"/>
            <a:ext cx="3291840" cy="228600"/>
          </a:xfrm>
          <a:prstGeom prst="roundRect">
            <a:avLst/>
          </a:prstGeom>
          <a:solidFill>
            <a:srgbClr val="EDF7F1"/>
          </a:solidFill>
          <a:ln w="10160">
            <a:solidFill>
              <a:srgbClr val="ED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50608" y="2834639"/>
            <a:ext cx="310896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8B6D"/>
                </a:solidFill>
                <a:latin typeface="Arial"/>
              </a:rPr>
              <a:t>Evidence status + assumptions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49039"/>
            <a:ext cx="498348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87552" y="4005072"/>
            <a:ext cx="438912" cy="438912"/>
          </a:xfrm>
          <a:prstGeom prst="ellipse">
            <a:avLst/>
          </a:prstGeom>
          <a:solidFill>
            <a:srgbClr val="0F8B6D"/>
          </a:solidFill>
          <a:ln w="10160"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4078224"/>
            <a:ext cx="4389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977639"/>
            <a:ext cx="3749039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0232B"/>
                </a:solidFill>
                <a:latin typeface="Arial"/>
              </a:rPr>
              <a:t>Enterprise copilots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370831"/>
            <a:ext cx="3749039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7076"/>
                </a:solidFill>
                <a:latin typeface="Arial"/>
              </a:rPr>
              <a:t>Serve mixed, high-volume traffic.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54480" y="4809744"/>
            <a:ext cx="3291840" cy="228600"/>
          </a:xfrm>
          <a:prstGeom prst="roundRect">
            <a:avLst/>
          </a:prstGeom>
          <a:solidFill>
            <a:srgbClr val="EDF7F1"/>
          </a:solidFill>
          <a:ln w="10160">
            <a:solidFill>
              <a:srgbClr val="ED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64208" y="4846320"/>
            <a:ext cx="310896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8B6D"/>
                </a:solidFill>
                <a:latin typeface="Arial"/>
              </a:rPr>
              <a:t>Task-to-tier workflow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749039"/>
            <a:ext cx="498348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73952" y="4005072"/>
            <a:ext cx="438912" cy="438912"/>
          </a:xfrm>
          <a:prstGeom prst="ellipse">
            <a:avLst/>
          </a:prstGeom>
          <a:solidFill>
            <a:srgbClr val="0F8B6D"/>
          </a:solidFill>
          <a:ln w="10160"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3952" y="4078224"/>
            <a:ext cx="4389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3977639"/>
            <a:ext cx="3749039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0232B"/>
                </a:solidFill>
                <a:latin typeface="Arial"/>
              </a:rPr>
              <a:t>End users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4370831"/>
            <a:ext cx="3749039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7076"/>
                </a:solidFill>
                <a:latin typeface="Arial"/>
              </a:rPr>
              <a:t>Need quality across languages and domains.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40880" y="4809744"/>
            <a:ext cx="3291840" cy="228600"/>
          </a:xfrm>
          <a:prstGeom prst="roundRect">
            <a:avLst/>
          </a:prstGeom>
          <a:solidFill>
            <a:srgbClr val="EDF7F1"/>
          </a:solidFill>
          <a:ln w="10160">
            <a:solidFill>
              <a:srgbClr val="ED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50608" y="4846320"/>
            <a:ext cx="310896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8B6D"/>
                </a:solidFill>
                <a:latin typeface="Arial"/>
              </a:rPr>
              <a:t>Override + escalation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806440"/>
            <a:ext cx="10469880" cy="438912"/>
          </a:xfrm>
          <a:prstGeom prst="roundRect">
            <a:avLst/>
          </a:prstGeom>
          <a:solidFill>
            <a:srgbClr val="10232B"/>
          </a:solidFill>
          <a:ln w="10160">
            <a:solidFill>
              <a:srgbClr val="10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5934456"/>
            <a:ext cx="10058400" cy="1737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Communities near data centres are also affected by local energy, water and infrastructure decisions — which is why location and measurement matter.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56248"/>
            <a:ext cx="104241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B7076"/>
                </a:solidFill>
                <a:latin typeface="Arial"/>
              </a:rPr>
              <a:t>Stakeholder mapping is part of the problem definition, not a claim that the demo serves communities directly.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8B6D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5486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8B6D"/>
                </a:solidFill>
                <a:latin typeface="Arial"/>
              </a:rPr>
              <a:t>06 ·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0232B"/>
                </a:solidFill>
                <a:latin typeface="Arial"/>
              </a:rPr>
              <a:t>How SustainAI Router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8B6D"/>
                </a:solidFill>
                <a:latin typeface="Arial"/>
              </a:rP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324612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4767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8B6D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947672"/>
            <a:ext cx="20116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32B"/>
                </a:solidFill>
                <a:latin typeface="Arial"/>
              </a:rPr>
              <a:t>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313432"/>
            <a:ext cx="2011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7076"/>
                </a:solidFill>
                <a:latin typeface="Arial"/>
              </a:rPr>
              <a:t>User enters task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724912"/>
            <a:ext cx="2651760" cy="82296"/>
          </a:xfrm>
          <a:prstGeom prst="rect">
            <a:avLst/>
          </a:prstGeom>
          <a:solidFill>
            <a:srgbClr val="EDF7F1"/>
          </a:solidFill>
          <a:ln w="10160">
            <a:solidFill>
              <a:srgbClr val="ED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80560" y="1737360"/>
            <a:ext cx="324612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94767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8B6D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947672"/>
            <a:ext cx="20116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32B"/>
                </a:solidFill>
                <a:latin typeface="Arial"/>
              </a:rPr>
              <a:t>UNDERSTAND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313432"/>
            <a:ext cx="2011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7076"/>
                </a:solidFill>
                <a:latin typeface="Arial"/>
              </a:rPr>
              <a:t>Task family + signals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2724912"/>
            <a:ext cx="2651760" cy="82296"/>
          </a:xfrm>
          <a:prstGeom prst="rect">
            <a:avLst/>
          </a:prstGeom>
          <a:solidFill>
            <a:srgbClr val="EDF7F1"/>
          </a:solidFill>
          <a:ln w="10160">
            <a:solidFill>
              <a:srgbClr val="ED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75320" y="1737360"/>
            <a:ext cx="324612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94767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8B6D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1947672"/>
            <a:ext cx="20116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32B"/>
                </a:solidFill>
                <a:latin typeface="Arial"/>
              </a:rPr>
              <a:t>QUALITY FLOOR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313432"/>
            <a:ext cx="2011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7076"/>
                </a:solidFill>
                <a:latin typeface="Arial"/>
              </a:rPr>
              <a:t>Risk + priority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03920" y="2724912"/>
            <a:ext cx="2651760" cy="82296"/>
          </a:xfrm>
          <a:prstGeom prst="rect">
            <a:avLst/>
          </a:prstGeom>
          <a:solidFill>
            <a:srgbClr val="EDF7F1"/>
          </a:solidFill>
          <a:ln w="10160">
            <a:solidFill>
              <a:srgbClr val="ED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3566160"/>
            <a:ext cx="324612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77647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8B6D"/>
                </a:solidFill>
                <a:latin typeface="Arial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776472"/>
            <a:ext cx="20116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32B"/>
                </a:solidFill>
                <a:latin typeface="Arial"/>
              </a:rPr>
              <a:t>RESOURCE 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142232"/>
            <a:ext cx="2011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7076"/>
                </a:solidFill>
                <a:latin typeface="Arial"/>
              </a:rPr>
              <a:t>Relative tier profile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4553712"/>
            <a:ext cx="2651760" cy="82296"/>
          </a:xfrm>
          <a:prstGeom prst="rect">
            <a:avLst/>
          </a:prstGeom>
          <a:solidFill>
            <a:srgbClr val="EDF7F1"/>
          </a:solidFill>
          <a:ln w="10160">
            <a:solidFill>
              <a:srgbClr val="ED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480560" y="3566160"/>
            <a:ext cx="324612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60" y="377647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8B6D"/>
                </a:solidFill>
                <a:latin typeface="Arial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3776472"/>
            <a:ext cx="20116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32B"/>
                </a:solidFill>
                <a:latin typeface="Arial"/>
              </a:rPr>
              <a:t>EXPLAIN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4142232"/>
            <a:ext cx="2011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7076"/>
                </a:solidFill>
                <a:latin typeface="Arial"/>
              </a:rPr>
              <a:t>Reason + trade-off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09160" y="4553712"/>
            <a:ext cx="2651760" cy="82296"/>
          </a:xfrm>
          <a:prstGeom prst="rect">
            <a:avLst/>
          </a:prstGeom>
          <a:solidFill>
            <a:srgbClr val="EDF7F1"/>
          </a:solidFill>
          <a:ln w="10160">
            <a:solidFill>
              <a:srgbClr val="ED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75320" y="3566160"/>
            <a:ext cx="324612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377647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8B6D"/>
                </a:solidFill>
                <a:latin typeface="Arial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776472"/>
            <a:ext cx="20116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32B"/>
                </a:solidFill>
                <a:latin typeface="Arial"/>
              </a:rPr>
              <a:t>ESCALATE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42232"/>
            <a:ext cx="2011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7076"/>
                </a:solidFill>
                <a:latin typeface="Arial"/>
              </a:rPr>
              <a:t>Override / human review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03920" y="4553712"/>
            <a:ext cx="2651760" cy="82296"/>
          </a:xfrm>
          <a:prstGeom prst="rect">
            <a:avLst/>
          </a:prstGeom>
          <a:solidFill>
            <a:srgbClr val="EDF7F1"/>
          </a:solidFill>
          <a:ln w="10160">
            <a:solidFill>
              <a:srgbClr val="ED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" y="5532120"/>
            <a:ext cx="10607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0232B"/>
                </a:solidFill>
                <a:latin typeface="Arial"/>
              </a:rPr>
              <a:t>The AI element is task understanding and explanation. The policy table remains inspectable and configurable.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56248"/>
            <a:ext cx="104241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B7076"/>
                </a:solidFill>
                <a:latin typeface="Arial"/>
              </a:rPr>
              <a:t>Design principle: least resource-intensive tier that is reasonably capable—not “smallest model always.”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8B6D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5486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8B6D"/>
                </a:solidFill>
                <a:latin typeface="Arial"/>
              </a:rPr>
              <a:t>07 · PROTOTYPE /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0232B"/>
                </a:solidFill>
                <a:latin typeface="Arial"/>
              </a:rPr>
              <a:t>Prototype: a product-like experience, not a school-project calculator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8B6D"/>
                </a:solidFill>
                <a:latin typeface="Arial"/>
              </a:rPr>
              <a:t>08</a:t>
            </a:r>
          </a:p>
        </p:txBody>
      </p:sp>
      <p:pic>
        <p:nvPicPr>
          <p:cNvPr id="5" name="Picture 4" descr="01_task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5394960" cy="3035808"/>
          </a:xfrm>
          <a:prstGeom prst="rect">
            <a:avLst/>
          </a:prstGeom>
        </p:spPr>
      </p:pic>
      <p:pic>
        <p:nvPicPr>
          <p:cNvPr id="6" name="Picture 5" descr="04_recommend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00200"/>
            <a:ext cx="5394960" cy="30358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" y="4983480"/>
            <a:ext cx="3154680" cy="777240"/>
          </a:xfrm>
          <a:prstGeom prst="roundRect">
            <a:avLst/>
          </a:prstGeom>
          <a:solidFill>
            <a:srgbClr val="EDF7F1"/>
          </a:solidFill>
          <a:ln w="10160">
            <a:solidFill>
              <a:srgbClr val="DB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138928"/>
            <a:ext cx="6858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8B6D"/>
                </a:solidFill>
                <a:latin typeface="Arial"/>
              </a:rPr>
              <a:t>Task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94960"/>
            <a:ext cx="24688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232B"/>
                </a:solidFill>
                <a:latin typeface="Arial"/>
              </a:rPr>
              <a:t>Translate → Marathi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81528" y="5276088"/>
            <a:ext cx="5943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8B6D"/>
                </a:solidFill>
                <a:latin typeface="Arial"/>
              </a:rPr>
              <a:t>Lightweight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4983480"/>
            <a:ext cx="3154680" cy="777240"/>
          </a:xfrm>
          <a:prstGeom prst="roundRect">
            <a:avLst/>
          </a:prstGeom>
          <a:solidFill>
            <a:srgbClr val="FFF2C8"/>
          </a:solidFill>
          <a:ln w="10160">
            <a:solidFill>
              <a:srgbClr val="DB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5138928"/>
            <a:ext cx="6858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8B6D"/>
                </a:solidFill>
                <a:latin typeface="Arial"/>
              </a:rPr>
              <a:t>Task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5394960"/>
            <a:ext cx="24688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232B"/>
                </a:solidFill>
                <a:latin typeface="Arial"/>
              </a:rPr>
              <a:t>Summarize → Standard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9128" y="5276088"/>
            <a:ext cx="5943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232B"/>
                </a:solidFill>
                <a:latin typeface="Arial"/>
              </a:rPr>
              <a:t>Standard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4983480"/>
            <a:ext cx="3154680" cy="777240"/>
          </a:xfrm>
          <a:prstGeom prst="roundRect">
            <a:avLst/>
          </a:prstGeom>
          <a:solidFill>
            <a:srgbClr val="FFEBE6"/>
          </a:solidFill>
          <a:ln w="10160">
            <a:solidFill>
              <a:srgbClr val="DB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5138928"/>
            <a:ext cx="6858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8B6D"/>
                </a:solidFill>
                <a:latin typeface="Arial"/>
              </a:rPr>
              <a:t>Task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5394960"/>
            <a:ext cx="24688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232B"/>
                </a:solidFill>
                <a:latin typeface="Arial"/>
              </a:rPr>
              <a:t>Contradictions → Advanced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96728" y="5276088"/>
            <a:ext cx="5943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232B"/>
                </a:solidFill>
                <a:latin typeface="Arial"/>
              </a:rPr>
              <a:t>Advanced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6035040"/>
            <a:ext cx="10789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7076"/>
                </a:solidFill>
                <a:latin typeface="Arial"/>
              </a:rPr>
              <a:t>Relative resource labels are conceptual assumptions. No exact energy, carbon, water or savings number is shown.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56248"/>
            <a:ext cx="104241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B7076"/>
                </a:solidFill>
                <a:latin typeface="Arial"/>
              </a:rPr>
              <a:t>Screenshots from SustainAI_Prototype.html. Offline demo uses transparent mock rules; no prompt is sent or stored.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8B6D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5486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8B6D"/>
                </a:solidFill>
                <a:latin typeface="Arial"/>
              </a:rPr>
              <a:t>08 ·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0232B"/>
                </a:solidFill>
                <a:latin typeface="Arial"/>
              </a:rPr>
              <a:t>Where the idea could fit in industry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8B6D"/>
                </a:solidFill>
                <a:latin typeface="Arial"/>
              </a:rP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498348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39112"/>
            <a:ext cx="4114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8B6D"/>
                </a:solidFill>
                <a:latin typeface="Arial"/>
              </a:rPr>
              <a:t>CUSTOMER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04872"/>
            <a:ext cx="42976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0232B"/>
                </a:solidFill>
                <a:latin typeface="Arial"/>
              </a:rPr>
              <a:t>Simple triage → Lightweight
FAQ answer → Standard
Escalation → Advanced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783080"/>
            <a:ext cx="498348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59" y="2039112"/>
            <a:ext cx="4114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8B6D"/>
                </a:solidFill>
                <a:latin typeface="Arial"/>
              </a:rPr>
              <a:t>INTERNAL 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59" y="2404872"/>
            <a:ext cx="42976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0232B"/>
                </a:solidFill>
                <a:latin typeface="Arial"/>
              </a:rPr>
              <a:t>Formatting / search → Lightweight
Summary → Standard
Policy synthesis → Advanced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498348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96512"/>
            <a:ext cx="4114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8B6D"/>
                </a:solidFill>
                <a:latin typeface="Arial"/>
              </a:rPr>
              <a:t>DOCUMENT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62272"/>
            <a:ext cx="42976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0232B"/>
                </a:solidFill>
                <a:latin typeface="Arial"/>
              </a:rPr>
              <a:t>Field extraction → Lightweight
Report summary → Standard
Contradictions → Advanced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840480"/>
            <a:ext cx="498348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59" y="4096512"/>
            <a:ext cx="4114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8B6D"/>
                </a:solidFill>
                <a:latin typeface="Arial"/>
              </a:rPr>
              <a:t>AI SaaS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4462272"/>
            <a:ext cx="42976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0232B"/>
                </a:solidFill>
                <a:latin typeface="Arial"/>
              </a:rPr>
              <a:t>Approved model pool
Quality / cost / latency policy
Resource metadata + audit log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806440"/>
            <a:ext cx="10469880" cy="420624"/>
          </a:xfrm>
          <a:prstGeom prst="roundRect">
            <a:avLst/>
          </a:prstGeom>
          <a:solidFill>
            <a:srgbClr val="EDF7F1"/>
          </a:solidFill>
          <a:ln w="10160">
            <a:solidFill>
              <a:srgbClr val="ED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5925312"/>
            <a:ext cx="10058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8B6D"/>
                </a:solidFill>
                <a:latin typeface="Arial"/>
              </a:rPr>
              <a:t>Potential value = quality + cost + latency + resource awareness, validated against the organization’s own workload.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56248"/>
            <a:ext cx="104241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B7076"/>
                </a:solidFill>
                <a:latin typeface="Arial"/>
              </a:rPr>
              <a:t>Use cases are illustrative; the prototype is not enterprise-ready.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8B6D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5486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8B6D"/>
                </a:solidFill>
                <a:latin typeface="Arial"/>
              </a:rPr>
              <a:t>09 · IMPACT &amp;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0232B"/>
                </a:solidFill>
                <a:latin typeface="Arial"/>
              </a:rPr>
              <a:t>Impact and evaluation: what we will claim — and what we will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8B6D"/>
                </a:solidFill>
                <a:latin typeface="Arial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4892040" cy="4069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114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8B6D"/>
                </a:solidFill>
                <a:latin typeface="Arial"/>
              </a:rPr>
              <a:t>EXPECTED IMPACT</a:t>
            </a:r>
          </a:p>
        </p:txBody>
      </p:sp>
      <p:sp>
        <p:nvSpPr>
          <p:cNvPr id="7" name="Oval 6"/>
          <p:cNvSpPr/>
          <p:nvPr/>
        </p:nvSpPr>
        <p:spPr>
          <a:xfrm>
            <a:off x="960120" y="2606039"/>
            <a:ext cx="82296" cy="82296"/>
          </a:xfrm>
          <a:prstGeom prst="ellipse">
            <a:avLst/>
          </a:prstGeom>
          <a:solidFill>
            <a:srgbClr val="0F8B6D"/>
          </a:solidFill>
          <a:ln w="10160"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2542032"/>
            <a:ext cx="399592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0232B"/>
                </a:solidFill>
                <a:latin typeface="Arial"/>
              </a:rPr>
              <a:t>Environmental: makes resource efficiency visible; no savings % claimed</a:t>
            </a:r>
          </a:p>
        </p:txBody>
      </p:sp>
      <p:sp>
        <p:nvSpPr>
          <p:cNvPr id="9" name="Oval 8"/>
          <p:cNvSpPr/>
          <p:nvPr/>
        </p:nvSpPr>
        <p:spPr>
          <a:xfrm>
            <a:off x="960120" y="3136391"/>
            <a:ext cx="82296" cy="82296"/>
          </a:xfrm>
          <a:prstGeom prst="ellipse">
            <a:avLst/>
          </a:prstGeom>
          <a:solidFill>
            <a:srgbClr val="0F8B6D"/>
          </a:solidFill>
          <a:ln w="10160"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3072384"/>
            <a:ext cx="399592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0232B"/>
                </a:solidFill>
                <a:latin typeface="Arial"/>
              </a:rPr>
              <a:t>Operational: helps avoid over-provisioning when validated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3666744"/>
            <a:ext cx="82296" cy="82296"/>
          </a:xfrm>
          <a:prstGeom prst="ellipse">
            <a:avLst/>
          </a:prstGeom>
          <a:solidFill>
            <a:srgbClr val="0F8B6D"/>
          </a:solidFill>
          <a:ln w="10160"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3602735"/>
            <a:ext cx="399592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0232B"/>
                </a:solidFill>
                <a:latin typeface="Arial"/>
              </a:rPr>
              <a:t>Economic: potential cost/latency efficiency at scale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4197096"/>
            <a:ext cx="82296" cy="82296"/>
          </a:xfrm>
          <a:prstGeom prst="ellipse">
            <a:avLst/>
          </a:prstGeom>
          <a:solidFill>
            <a:srgbClr val="0F8B6D"/>
          </a:solidFill>
          <a:ln w="10160"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" y="4133087"/>
            <a:ext cx="399592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0232B"/>
                </a:solidFill>
                <a:latin typeface="Arial"/>
              </a:rPr>
              <a:t>Social: awareness with language/domain fairness safeguards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06440" y="1737360"/>
            <a:ext cx="5715000" cy="4069080"/>
          </a:xfrm>
          <a:prstGeom prst="roundRect">
            <a:avLst/>
          </a:prstGeom>
          <a:solidFill>
            <a:srgbClr val="10232B"/>
          </a:solidFill>
          <a:ln w="10160">
            <a:solidFill>
              <a:srgbClr val="10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2011680"/>
            <a:ext cx="4846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9F06A"/>
                </a:solidFill>
                <a:latin typeface="Arial"/>
              </a:rPr>
              <a:t>PROPOSED EVALUATION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487168"/>
            <a:ext cx="43891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15–20 anonymized tasks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017520"/>
            <a:ext cx="45720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2E7DD"/>
                </a:solidFill>
                <a:latin typeface="Arial"/>
              </a:rPr>
              <a:t>Simple · Moderate · Complex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3703320"/>
            <a:ext cx="1417320" cy="566928"/>
          </a:xfrm>
          <a:prstGeom prst="roundRect">
            <a:avLst/>
          </a:prstGeom>
          <a:solidFill>
            <a:srgbClr val="1C3E37"/>
          </a:solidFill>
          <a:ln w="10160">
            <a:solidFill>
              <a:srgbClr val="3D6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3813048"/>
            <a:ext cx="1261872" cy="155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F06A"/>
                </a:solidFill>
                <a:latin typeface="Arial"/>
              </a:rPr>
              <a:t>Classification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2" y="4023359"/>
            <a:ext cx="1261872" cy="1280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4DED3"/>
                </a:solidFill>
                <a:latin typeface="Arial"/>
              </a:rPr>
              <a:t>correctness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99832" y="3703320"/>
            <a:ext cx="1417320" cy="566928"/>
          </a:xfrm>
          <a:prstGeom prst="roundRect">
            <a:avLst/>
          </a:prstGeom>
          <a:solidFill>
            <a:srgbClr val="1C3E37"/>
          </a:solidFill>
          <a:ln w="10160">
            <a:solidFill>
              <a:srgbClr val="3D6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72984" y="3813048"/>
            <a:ext cx="1261872" cy="155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F06A"/>
                </a:solidFill>
                <a:latin typeface="Arial"/>
              </a:rPr>
              <a:t>Tier choice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72984" y="4023359"/>
            <a:ext cx="1261872" cy="1280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4DED3"/>
                </a:solidFill>
                <a:latin typeface="Arial"/>
              </a:rPr>
              <a:t>appropriate?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73184" y="3703320"/>
            <a:ext cx="1417320" cy="566928"/>
          </a:xfrm>
          <a:prstGeom prst="roundRect">
            <a:avLst/>
          </a:prstGeom>
          <a:solidFill>
            <a:srgbClr val="1C3E37"/>
          </a:solidFill>
          <a:ln w="10160">
            <a:solidFill>
              <a:srgbClr val="3D6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46336" y="3813048"/>
            <a:ext cx="1261872" cy="155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F06A"/>
                </a:solidFill>
                <a:latin typeface="Arial"/>
              </a:rPr>
              <a:t>Quality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46336" y="4023359"/>
            <a:ext cx="1261872" cy="1280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4DED3"/>
                </a:solidFill>
                <a:latin typeface="Arial"/>
              </a:rPr>
              <a:t>preserved?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4526280"/>
            <a:ext cx="1417320" cy="566928"/>
          </a:xfrm>
          <a:prstGeom prst="roundRect">
            <a:avLst/>
          </a:prstGeom>
          <a:solidFill>
            <a:srgbClr val="1C3E37"/>
          </a:solidFill>
          <a:ln w="10160">
            <a:solidFill>
              <a:srgbClr val="3D6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99632" y="4636008"/>
            <a:ext cx="1261872" cy="155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F06A"/>
                </a:solidFill>
                <a:latin typeface="Arial"/>
              </a:rPr>
              <a:t>Explanation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9632" y="4846320"/>
            <a:ext cx="1261872" cy="1280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4DED3"/>
                </a:solidFill>
                <a:latin typeface="Arial"/>
              </a:rPr>
              <a:t>clear?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99832" y="4526280"/>
            <a:ext cx="1417320" cy="566928"/>
          </a:xfrm>
          <a:prstGeom prst="roundRect">
            <a:avLst/>
          </a:prstGeom>
          <a:solidFill>
            <a:srgbClr val="1C3E37"/>
          </a:solidFill>
          <a:ln w="10160">
            <a:solidFill>
              <a:srgbClr val="3D6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72984" y="4636008"/>
            <a:ext cx="1261872" cy="155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F06A"/>
                </a:solidFill>
                <a:latin typeface="Arial"/>
              </a:rPr>
              <a:t>Fairness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72984" y="4846320"/>
            <a:ext cx="1261872" cy="1280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4DED3"/>
                </a:solidFill>
                <a:latin typeface="Arial"/>
              </a:rPr>
              <a:t>language / domain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5468112"/>
            <a:ext cx="47091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F06A"/>
                </a:solidFill>
                <a:latin typeface="Arial"/>
              </a:rPr>
              <a:t>No fake performance percentages.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56248"/>
            <a:ext cx="104241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B7076"/>
                </a:solidFill>
                <a:latin typeface="Arial"/>
              </a:rPr>
              <a:t>Status: proposed evaluation / prototype test plan. Results are not fabricated.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8B6D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5486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8B6D"/>
                </a:solidFill>
                <a:latin typeface="Arial"/>
              </a:rPr>
              <a:t>10 · RESPONSIBLE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0232B"/>
                </a:solidFill>
                <a:latin typeface="Arial"/>
              </a:rPr>
              <a:t>Responsible AI is part of the 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8B6D"/>
                </a:solidFill>
                <a:latin typeface="Arial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498348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9264" y="1993391"/>
            <a:ext cx="91440" cy="841248"/>
          </a:xfrm>
          <a:prstGeom prst="roundRect">
            <a:avLst/>
          </a:prstGeom>
          <a:solidFill>
            <a:srgbClr val="0F8B6D"/>
          </a:solidFill>
          <a:ln w="10160"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61872" y="1965960"/>
            <a:ext cx="3977639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8B6D"/>
                </a:solidFill>
                <a:latin typeface="Arial"/>
              </a:rPr>
              <a:t>FAIRNESS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2331720"/>
            <a:ext cx="402336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232B"/>
                </a:solidFill>
                <a:latin typeface="Arial"/>
              </a:rPr>
              <a:t>Test English, Marathi and domain variation. Do not treat language as “easy.”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37360"/>
            <a:ext cx="498348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01383" y="1993391"/>
            <a:ext cx="91440" cy="841248"/>
          </a:xfrm>
          <a:prstGeom prst="roundRect">
            <a:avLst/>
          </a:prstGeom>
          <a:solidFill>
            <a:srgbClr val="2A68E8"/>
          </a:solidFill>
          <a:ln w="10160">
            <a:solidFill>
              <a:srgbClr val="2A6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93992" y="1965960"/>
            <a:ext cx="3977639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A68E8"/>
                </a:solidFill>
                <a:latin typeface="Arial"/>
              </a:rPr>
              <a:t>TRANSPARENCY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3992" y="2331720"/>
            <a:ext cx="402336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232B"/>
                </a:solidFill>
                <a:latin typeface="Arial"/>
              </a:rPr>
              <a:t>Show category, reason, confidence, evidence status and trade-off.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11879"/>
            <a:ext cx="498348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9264" y="3867911"/>
            <a:ext cx="91440" cy="841248"/>
          </a:xfrm>
          <a:prstGeom prst="roundRect">
            <a:avLst/>
          </a:prstGeom>
          <a:solidFill>
            <a:srgbClr val="AA8223"/>
          </a:solidFill>
          <a:ln w="10160">
            <a:solidFill>
              <a:srgbClr val="AA8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61872" y="3840479"/>
            <a:ext cx="3977639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A8223"/>
                </a:solidFill>
                <a:latin typeface="Arial"/>
              </a:rPr>
              <a:t>ETHICS + RELIABILITY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4206240"/>
            <a:ext cx="402336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232B"/>
                </a:solidFill>
                <a:latin typeface="Arial"/>
              </a:rPr>
              <a:t>Quality floor, conservative escalation, human review for high-impact work.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611879"/>
            <a:ext cx="498348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01383" y="3867911"/>
            <a:ext cx="91440" cy="841248"/>
          </a:xfrm>
          <a:prstGeom prst="roundRect">
            <a:avLst/>
          </a:prstGeom>
          <a:solidFill>
            <a:srgbClr val="AD4C42"/>
          </a:solidFill>
          <a:ln w="10160">
            <a:solidFill>
              <a:srgbClr val="AD4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93992" y="3840479"/>
            <a:ext cx="3977639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D4C42"/>
                </a:solidFill>
                <a:latin typeface="Arial"/>
              </a:rPr>
              <a:t>PRIVACY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93992" y="4206240"/>
            <a:ext cx="402336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232B"/>
                </a:solidFill>
                <a:latin typeface="Arial"/>
              </a:rPr>
              <a:t>Minimize prompt retention; redact PII; use private/local analysis where possible.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715000"/>
            <a:ext cx="10469880" cy="530352"/>
          </a:xfrm>
          <a:prstGeom prst="roundRect">
            <a:avLst/>
          </a:prstGeom>
          <a:solidFill>
            <a:srgbClr val="10232B"/>
          </a:solidFill>
          <a:ln w="10160">
            <a:solidFill>
              <a:srgbClr val="10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879592"/>
            <a:ext cx="10058400" cy="1737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Human/developer control remains final: override the recommendation, use a quality-first route or require review.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56248"/>
            <a:ext cx="104241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B7076"/>
                </a:solidFill>
                <a:latin typeface="Arial"/>
              </a:rPr>
              <a:t>Reference frameworks: NIST AI RMF 1.0 and UNESCO Recommendation on the Ethics of AI.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8B6D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303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F06A"/>
                </a:solidFill>
                <a:latin typeface="Arial"/>
              </a:rPr>
              <a:t>11 ·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A modest, defensible project is stronger than an exaggerated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9F06A"/>
                </a:solidFill>
                <a:latin typeface="Arial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6675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SustainAI Router makes
resource-aware routing legible.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80360"/>
            <a:ext cx="621792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CE5DA"/>
                </a:solidFill>
                <a:latin typeface="Arial"/>
              </a:rPr>
              <a:t>Existing systems already route. Our contribution is a transparent policy layer that explains the decision, discloses assumptions and protects quality.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737360"/>
            <a:ext cx="3337560" cy="3246120"/>
          </a:xfrm>
          <a:prstGeom prst="roundRect">
            <a:avLst/>
          </a:prstGeom>
          <a:solidFill>
            <a:srgbClr val="1C3E37"/>
          </a:solidFill>
          <a:ln w="10160">
            <a:solidFill>
              <a:srgbClr val="3D6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2057400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9F06A"/>
                </a:solidFill>
                <a:latin typeface="Arial"/>
              </a:rPr>
              <a:t>NEXT SCOPE</a:t>
            </a:r>
          </a:p>
        </p:txBody>
      </p:sp>
      <p:sp>
        <p:nvSpPr>
          <p:cNvPr id="9" name="Oval 8"/>
          <p:cNvSpPr/>
          <p:nvPr/>
        </p:nvSpPr>
        <p:spPr>
          <a:xfrm>
            <a:off x="8046720" y="2606039"/>
            <a:ext cx="82296" cy="82296"/>
          </a:xfrm>
          <a:prstGeom prst="ellipse">
            <a:avLst/>
          </a:prstGeom>
          <a:solidFill>
            <a:srgbClr val="D9F06A"/>
          </a:solidFill>
          <a:ln w="10160">
            <a:solidFill>
              <a:srgbClr val="D9F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2" y="2542032"/>
            <a:ext cx="248716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Measured model cards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0" y="2999232"/>
            <a:ext cx="82296" cy="82296"/>
          </a:xfrm>
          <a:prstGeom prst="ellipse">
            <a:avLst/>
          </a:prstGeom>
          <a:solidFill>
            <a:srgbClr val="D9F06A"/>
          </a:solidFill>
          <a:ln w="10160">
            <a:solidFill>
              <a:srgbClr val="D9F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2935224"/>
            <a:ext cx="248716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Telemetry + SCI</a:t>
            </a:r>
          </a:p>
        </p:txBody>
      </p:sp>
      <p:sp>
        <p:nvSpPr>
          <p:cNvPr id="13" name="Oval 12"/>
          <p:cNvSpPr/>
          <p:nvPr/>
        </p:nvSpPr>
        <p:spPr>
          <a:xfrm>
            <a:off x="8046720" y="3392423"/>
            <a:ext cx="82296" cy="82296"/>
          </a:xfrm>
          <a:prstGeom prst="ellipse">
            <a:avLst/>
          </a:prstGeom>
          <a:solidFill>
            <a:srgbClr val="D9F06A"/>
          </a:solidFill>
          <a:ln w="10160">
            <a:solidFill>
              <a:srgbClr val="D9F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3328415"/>
            <a:ext cx="248716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Multilingual evaluation</a:t>
            </a:r>
          </a:p>
        </p:txBody>
      </p:sp>
      <p:sp>
        <p:nvSpPr>
          <p:cNvPr id="15" name="Oval 14"/>
          <p:cNvSpPr/>
          <p:nvPr/>
        </p:nvSpPr>
        <p:spPr>
          <a:xfrm>
            <a:off x="8046720" y="3785616"/>
            <a:ext cx="82296" cy="82296"/>
          </a:xfrm>
          <a:prstGeom prst="ellipse">
            <a:avLst/>
          </a:prstGeom>
          <a:solidFill>
            <a:srgbClr val="D9F06A"/>
          </a:solidFill>
          <a:ln w="10160">
            <a:solidFill>
              <a:srgbClr val="D9F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3721608"/>
            <a:ext cx="248716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Real workload 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303520"/>
            <a:ext cx="100584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D9F06A"/>
                </a:solidFill>
                <a:latin typeface="Arial"/>
              </a:rPr>
              <a:t>Use the least resource-intensive model that is reasonably capable — not the smallest model at any cost.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6080760"/>
            <a:ext cx="54864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5BFB4"/>
                </a:solidFill>
                <a:latin typeface="Arial"/>
              </a:rPr>
              <a:t>Thank you · SustainAI Router · September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56248"/>
            <a:ext cx="104241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6B8B1"/>
                </a:solidFill>
                <a:latin typeface="Arial"/>
              </a:rPr>
              <a:t>Final project lock: SDG 12 · no exact environmental savings claim · 12 slides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9F06A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